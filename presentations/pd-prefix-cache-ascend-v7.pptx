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e548b1779db4ddd" /><Relationship Type="http://schemas.openxmlformats.org/officeDocument/2006/relationships/extended-properties" Target="/docProps/app.xml" Id="Re20d8d3e91fc4136" /><Relationship Type="http://schemas.openxmlformats.org/officeDocument/2006/relationships/officeDocument" Target="/ppt/presentation.xml" Id="Rdb96cab985a24b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1e21bc5f2248a4"/>
  </p:sldMasterIdLst>
  <p:notesMasterIdLst>
    <p:notesMasterId xmlns:r="http://schemas.openxmlformats.org/officeDocument/2006/relationships" r:id="Rb9c67bd90897408e"/>
  </p:notesMasterIdLst>
  <p:sldIdLst>
    <p:sldId xmlns:r="http://schemas.openxmlformats.org/officeDocument/2006/relationships" id="256" r:id="R1f496bc26a9941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403eae59fb4530" /><Relationship Type="http://schemas.openxmlformats.org/officeDocument/2006/relationships/slideMaster" Target="/ppt/slideMasters/slideMaster1.xml" Id="R2b1e21bc5f2248a4" /><Relationship Type="http://schemas.openxmlformats.org/officeDocument/2006/relationships/notesMaster" Target="/ppt/notesMasters/notesMaster1.xml" Id="Rb9c67bd90897408e" /><Relationship Type="http://schemas.openxmlformats.org/officeDocument/2006/relationships/presProps" Target="/ppt/presProps.xml" Id="R212c7a22f6c148eb" /><Relationship Type="http://schemas.openxmlformats.org/officeDocument/2006/relationships/tableStyles" Target="/ppt/tableStyles.xml" Id="Rbf325b4b77544c87" /><Relationship Type="http://schemas.openxmlformats.org/officeDocument/2006/relationships/slide" Target="/ppt/slides/slide1.xml" Id="R1f496bc26a9941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c72e6f753145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2d671ec8a140f4" /><Relationship Type="http://schemas.openxmlformats.org/officeDocument/2006/relationships/notesMaster" Target="/ppt/notesMasters/notesMaster1.xml" Id="R001fadbce35b479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一页左右对比：左为已有方案，Host DDR L2 + SSD L3；右为新方案，保持 Host DDR L2，将 L3 池替换为 KVU L3。图中②为 L2 命中时 Host DDR 到 P HBM 的读取，③为 P 到 D 的实时 KV，④为 P HBM 写回 Host DDR；⑤为 L2 按策略淘汰/下沉至 L3，⑥为 L2 miss 后由 L3 回填 Host DDR，再供 P 读取。⑤⑥的标注是用户指定的目标架构示意，策略与具体路径依实现而定；未对 KVU L3 的性能、接口或内部机制作额外假设。模型按 Qwen3-235B-A22B BF16 配置：94 层、4 个 KV heads、head_dim=128、BF16 每元素 2 bytes。每 token 完整 KV = 94×2(K,V)×4×128×2 = 192,512 bytes = 188 KiB。示例 prompt 32,768 tokens，逻辑 IO 按 1 token 计；全量 32,768 次，总量 6,308,233,216 bytes（6.31 GB）。单请求若要求 30 ms 搬完全量，等效带宽 210.3 GB/s。实际物理 IO 会按 KV block 合并；若每块 B tokens，IO 次数为 ceil(32768/B)，每次大小约 B×188 KiB。TPOT 是 decode 阶段相邻输出 token 的时间，表内为时限等效带宽，不是 cache/PD 流量的 TPOT 硬指标。③中 D 冷启动按全量估算，D 全命中时缺口为零；②④只包含 P 节点读写，不包括 D 访问共享 L2。来源：Qwen/Qwen3-235B-A22B 官方 config.json（https://huggingface.co/Qwen/Qwen3-235B-A22B/blob/main/config.json），Qwen3 官方模型架构说明（https://qwenlm.github.io/blog/qwen3/）。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d8a5aa8ff34b0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155cfb299443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8c8a40c8e84fe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11e974f51245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d1bab765894a5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998ac2c4d646c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015B658-AC7A-4EB7-A369-1DE48B3683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C8E05EE-7A5F-49B2-B7F7-2447A2F30DF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6976297-BB67-4DB8-A699-E7C215284E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EC2A3B-956D-4667-BF6D-806A2BDFA5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C2304A7-FF67-474D-A154-3B4BEAC4FB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78E734B-22E2-4885-9F10-710E4625E2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7858906-A7BF-4D7D-9E89-F243D3CF40F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FC30C6C-B385-402A-BBFC-B0F2ECF6E5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01059A-53E6-4957-A1D4-E42727260A1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6E58C7-F250-4A14-9900-42CAA0F4FA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67598cf2564bc2" /><Relationship Type="http://schemas.openxmlformats.org/officeDocument/2006/relationships/slideLayout" Target="/ppt/slideLayouts/slideLayout1.xml" Id="R8dfbd552e44648e8" /><Relationship Type="http://schemas.openxmlformats.org/officeDocument/2006/relationships/slideLayout" Target="/ppt/slideLayouts/slideLayout2.xml" Id="Raf03eedea14a48d4" /><Relationship Type="http://schemas.openxmlformats.org/officeDocument/2006/relationships/slideLayout" Target="/ppt/slideLayouts/slideLayout3.xml" Id="Red79205c9afb4bcd" /><Relationship Type="http://schemas.openxmlformats.org/officeDocument/2006/relationships/slideLayout" Target="/ppt/slideLayouts/slideLayout4.xml" Id="R089eff065c3d4f1b" /><Relationship Type="http://schemas.openxmlformats.org/officeDocument/2006/relationships/slideLayout" Target="/ppt/slideLayouts/slideLayout5.xml" Id="R8ee4b0e324cd4af9" /><Relationship Type="http://schemas.openxmlformats.org/officeDocument/2006/relationships/slideLayout" Target="/ppt/slideLayouts/slideLayout6.xml" Id="Rc302f0b96aa24e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fbd552e44648e8"/>
    <p:sldLayoutId xmlns:r="http://schemas.openxmlformats.org/officeDocument/2006/relationships" id="2147483650" r:id="Raf03eedea14a48d4"/>
    <p:sldLayoutId xmlns:r="http://schemas.openxmlformats.org/officeDocument/2006/relationships" id="2147483651" r:id="Red79205c9afb4bcd"/>
    <p:sldLayoutId xmlns:r="http://schemas.openxmlformats.org/officeDocument/2006/relationships" id="2147483652" r:id="R089eff065c3d4f1b"/>
    <p:sldLayoutId xmlns:r="http://schemas.openxmlformats.org/officeDocument/2006/relationships" id="2147483653" r:id="R8ee4b0e324cd4af9"/>
    <p:sldLayoutId xmlns:r="http://schemas.openxmlformats.org/officeDocument/2006/relationships" id="2147483654" r:id="Rc302f0b96aa24e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e668e7437b43c8" /><Relationship Type="http://schemas.openxmlformats.org/officeDocument/2006/relationships/notesSlide" Target="/ppt/notesSlides/notesSlide1.xml" Id="Rd9b52429a20242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0" name="brand-red-rule">
            <a:extLst xmlns:a="http://schemas.openxmlformats.org/drawingml/2006/main">
              <a:ext uri="{FF2B5EF4-FFF2-40B4-BE49-F238E27FC236}">
                <a16:creationId xmlns:a16="http://schemas.microsoft.com/office/drawing/2014/main" id="{3EEEF4E4-1317-4188-A449-A81AE720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C3DEAB-CA9A-4E5F-918A-3E83BAF1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3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3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3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3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3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3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3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3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3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3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华为 NPU × Qwen3-235B-A22B：L3 池方案对比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DEC05637-5688-439D-9BD2-6B74CD80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06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左：已有 SSD L3 方案｜右：新方案，以 KVU L3 池替换 SSD L3｜32K prompt 示例</a:t>
            </a:r>
          </a:p>
        </p:txBody>
      </p:sp>
      <p:sp>
        <p:nvSpPr>
          <p:cNvPr id="4" name="existing-frame">
            <a:extLst xmlns:a="http://schemas.openxmlformats.org/drawingml/2006/main">
              <a:ext uri="{FF2B5EF4-FFF2-40B4-BE49-F238E27FC236}">
                <a16:creationId xmlns:a16="http://schemas.microsoft.com/office/drawing/2014/main" id="{9676565C-8365-49DA-9F66-202A39DCC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52959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5" name="existing-tag">
            <a:extLst xmlns:a="http://schemas.openxmlformats.org/drawingml/2006/main">
              <a:ext uri="{FF2B5EF4-FFF2-40B4-BE49-F238E27FC236}">
                <a16:creationId xmlns:a16="http://schemas.microsoft.com/office/drawing/2014/main" id="{7D87B134-826B-4D10-A2FE-BBD244D8C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8953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5F6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xisting-tag-text">
            <a:extLst xmlns:a="http://schemas.openxmlformats.org/drawingml/2006/main">
              <a:ext uri="{FF2B5EF4-FFF2-40B4-BE49-F238E27FC236}">
                <a16:creationId xmlns:a16="http://schemas.microsoft.com/office/drawing/2014/main" id="{33A96FB8-ACFF-40DC-AB3D-044B9252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620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已有方案</a:t>
            </a:r>
          </a:p>
        </p:txBody>
      </p:sp>
      <p:sp>
        <p:nvSpPr>
          <p:cNvPr id="7" name="existing-heading">
            <a:extLst xmlns:a="http://schemas.openxmlformats.org/drawingml/2006/main">
              <a:ext uri="{FF2B5EF4-FFF2-40B4-BE49-F238E27FC236}">
                <a16:creationId xmlns:a16="http://schemas.microsoft.com/office/drawing/2014/main" id="{01B10540-6A27-494C-AD01-7D8E75CA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1525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SSD L3 分层池</a:t>
            </a:r>
          </a:p>
        </p:txBody>
      </p:sp>
      <p:sp>
        <p:nvSpPr>
          <p:cNvPr id="8" name="existing-P">
            <a:extLst xmlns:a="http://schemas.openxmlformats.org/drawingml/2006/main">
              <a:ext uri="{FF2B5EF4-FFF2-40B4-BE49-F238E27FC236}">
                <a16:creationId xmlns:a16="http://schemas.microsoft.com/office/drawing/2014/main" id="{347C1AA1-0B7E-475B-8E55-7ADFC2E8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81150"/>
            <a:ext cx="152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102E"/>
            </a:solidFill>
            <a:prstDash val="solid"/>
          </a:ln>
        </p:spPr>
      </p:sp>
      <p:sp>
        <p:nvSpPr>
          <p:cNvPr id="9" name="existing-P-title">
            <a:extLst xmlns:a="http://schemas.openxmlformats.org/drawingml/2006/main">
              <a:ext uri="{FF2B5EF4-FFF2-40B4-BE49-F238E27FC236}">
                <a16:creationId xmlns:a16="http://schemas.microsoft.com/office/drawing/2014/main" id="{47B3847C-7F85-4F66-983B-CC5B827F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3830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P 节点 / HBM</a:t>
            </a:r>
          </a:p>
        </p:txBody>
      </p:sp>
      <p:sp>
        <p:nvSpPr>
          <p:cNvPr id="10" name="existing-P-sub">
            <a:extLst xmlns:a="http://schemas.openxmlformats.org/drawingml/2006/main">
              <a:ext uri="{FF2B5EF4-FFF2-40B4-BE49-F238E27FC236}">
                <a16:creationId xmlns:a16="http://schemas.microsoft.com/office/drawing/2014/main" id="{BCA3A09D-E179-4BFD-AACF-67BA1314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Prefill</a:t>
            </a:r>
          </a:p>
        </p:txBody>
      </p:sp>
      <p:sp>
        <p:nvSpPr>
          <p:cNvPr id="11" name="existing-D">
            <a:extLst xmlns:a="http://schemas.openxmlformats.org/drawingml/2006/main">
              <a:ext uri="{FF2B5EF4-FFF2-40B4-BE49-F238E27FC236}">
                <a16:creationId xmlns:a16="http://schemas.microsoft.com/office/drawing/2014/main" id="{27D4159B-4FB4-4202-AEB0-E432332C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581150"/>
            <a:ext cx="152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102E"/>
            </a:solidFill>
            <a:prstDash val="solid"/>
          </a:ln>
        </p:spPr>
      </p:sp>
      <p:sp>
        <p:nvSpPr>
          <p:cNvPr id="12" name="existing-D-title">
            <a:extLst xmlns:a="http://schemas.openxmlformats.org/drawingml/2006/main">
              <a:ext uri="{FF2B5EF4-FFF2-40B4-BE49-F238E27FC236}">
                <a16:creationId xmlns:a16="http://schemas.microsoft.com/office/drawing/2014/main" id="{AB64BB0E-B455-464C-A777-F83248C8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3830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D 阶段 / HBM</a:t>
            </a:r>
          </a:p>
        </p:txBody>
      </p:sp>
      <p:sp>
        <p:nvSpPr>
          <p:cNvPr id="13" name="existing-D-sub">
            <a:extLst xmlns:a="http://schemas.openxmlformats.org/drawingml/2006/main">
              <a:ext uri="{FF2B5EF4-FFF2-40B4-BE49-F238E27FC236}">
                <a16:creationId xmlns:a16="http://schemas.microsoft.com/office/drawing/2014/main" id="{F1CDDBED-08E6-4EAF-AF69-05A2930A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28800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Decode</a:t>
            </a:r>
          </a:p>
        </p:txBody>
      </p:sp>
      <p:sp>
        <p:nvSpPr>
          <p:cNvPr id="14" name="existing-flow3">
            <a:extLst xmlns:a="http://schemas.openxmlformats.org/drawingml/2006/main">
              <a:ext uri="{FF2B5EF4-FFF2-40B4-BE49-F238E27FC236}">
                <a16:creationId xmlns:a16="http://schemas.microsoft.com/office/drawing/2014/main" id="{9FC3AF6F-3A67-4EA8-8231-E1A1B464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847850"/>
            <a:ext cx="1828800" cy="9525"/>
          </a:xfrm>
          <a:custGeom xmlns:a="http://schemas.openxmlformats.org/drawingml/2006/main">
            <a:pathLst>
              <a:path w="1828800" h="9525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C8102E"/>
            </a:solidFill>
            <a:prstDash val="solid"/>
          </a:ln>
        </p:spPr>
      </p:sp>
      <p:sp>
        <p:nvSpPr>
          <p:cNvPr id="15" name="existing-flow3-head">
            <a:extLst xmlns:a="http://schemas.openxmlformats.org/drawingml/2006/main">
              <a:ext uri="{FF2B5EF4-FFF2-40B4-BE49-F238E27FC236}">
                <a16:creationId xmlns:a16="http://schemas.microsoft.com/office/drawing/2014/main" id="{59A603C8-5644-46AE-8685-ADAC0B6C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095750" y="17716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existing-flow3-label">
            <a:extLst xmlns:a="http://schemas.openxmlformats.org/drawingml/2006/main">
              <a:ext uri="{FF2B5EF4-FFF2-40B4-BE49-F238E27FC236}">
                <a16:creationId xmlns:a16="http://schemas.microsoft.com/office/drawing/2014/main" id="{EB66A307-536D-43D2-86AD-6D27A59F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287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6562"/>
          </a:bodyPr>
          <a:lstStyle xmlns:a="http://schemas.openxmlformats.org/drawingml/2006/main">
            <a:def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③ P→D KV</a:t>
            </a:r>
          </a:p>
        </p:txBody>
      </p:sp>
      <p:sp>
        <p:nvSpPr>
          <p:cNvPr id="17" name="existing-L2">
            <a:extLst xmlns:a="http://schemas.openxmlformats.org/drawingml/2006/main">
              <a:ext uri="{FF2B5EF4-FFF2-40B4-BE49-F238E27FC236}">
                <a16:creationId xmlns:a16="http://schemas.microsoft.com/office/drawing/2014/main" id="{5940AAB5-7BC1-48AC-9918-DB4CE7024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1905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102E"/>
            </a:solidFill>
            <a:prstDash val="solid"/>
          </a:ln>
        </p:spPr>
      </p:sp>
      <p:sp>
        <p:nvSpPr>
          <p:cNvPr id="18" name="existing-L2-title">
            <a:extLst xmlns:a="http://schemas.openxmlformats.org/drawingml/2006/main">
              <a:ext uri="{FF2B5EF4-FFF2-40B4-BE49-F238E27FC236}">
                <a16:creationId xmlns:a16="http://schemas.microsoft.com/office/drawing/2014/main" id="{FEEFDDB6-A5DA-48EE-91F2-790FE4E84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4193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Host DDR · L2 池</a:t>
            </a:r>
          </a:p>
        </p:txBody>
      </p:sp>
      <p:sp>
        <p:nvSpPr>
          <p:cNvPr id="19" name="existing-L2-sub">
            <a:extLst xmlns:a="http://schemas.openxmlformats.org/drawingml/2006/main">
              <a:ext uri="{FF2B5EF4-FFF2-40B4-BE49-F238E27FC236}">
                <a16:creationId xmlns:a16="http://schemas.microsoft.com/office/drawing/2014/main" id="{4715B9D6-C3C7-4E14-8085-5BD3C4087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62890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共享 Prefix KV</a:t>
            </a:r>
          </a:p>
        </p:txBody>
      </p:sp>
      <p:sp>
        <p:nvSpPr>
          <p:cNvPr id="20" name="existing-L3">
            <a:extLst xmlns:a="http://schemas.openxmlformats.org/drawingml/2006/main">
              <a:ext uri="{FF2B5EF4-FFF2-40B4-BE49-F238E27FC236}">
                <a16:creationId xmlns:a16="http://schemas.microsoft.com/office/drawing/2014/main" id="{8BE4F0F6-55E1-472F-8ECA-5D067BA8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62300"/>
            <a:ext cx="1905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F6368"/>
            </a:solidFill>
            <a:prstDash val="solid"/>
          </a:ln>
        </p:spPr>
      </p:sp>
      <p:sp>
        <p:nvSpPr>
          <p:cNvPr id="21" name="existing-L3-title">
            <a:extLst xmlns:a="http://schemas.openxmlformats.org/drawingml/2006/main">
              <a:ext uri="{FF2B5EF4-FFF2-40B4-BE49-F238E27FC236}">
                <a16:creationId xmlns:a16="http://schemas.microsoft.com/office/drawing/2014/main" id="{4790E3F8-2FCC-4121-8EB6-866C91F0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1908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SSD L3 池</a:t>
            </a:r>
          </a:p>
        </p:txBody>
      </p:sp>
      <p:sp>
        <p:nvSpPr>
          <p:cNvPr id="22" name="existing-L3-sub">
            <a:extLst xmlns:a="http://schemas.openxmlformats.org/drawingml/2006/main">
              <a:ext uri="{FF2B5EF4-FFF2-40B4-BE49-F238E27FC236}">
                <a16:creationId xmlns:a16="http://schemas.microsoft.com/office/drawing/2014/main" id="{FFDB44F4-A81D-4C82-96EC-3445183A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371850"/>
            <a:ext cx="1733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冷 KV / 长尾前缀</a:t>
            </a:r>
          </a:p>
        </p:txBody>
      </p:sp>
      <p:sp>
        <p:nvSpPr>
          <p:cNvPr id="23" name="existing-flow2">
            <a:extLst xmlns:a="http://schemas.openxmlformats.org/drawingml/2006/main">
              <a:ext uri="{FF2B5EF4-FFF2-40B4-BE49-F238E27FC236}">
                <a16:creationId xmlns:a16="http://schemas.microsoft.com/office/drawing/2014/main" id="{44D53E83-05E4-4023-BCD4-DEACC35C5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05025"/>
            <a:ext cx="247650" cy="247650"/>
          </a:xfrm>
          <a:custGeom xmlns:a="http://schemas.openxmlformats.org/drawingml/2006/main">
            <a:pathLst>
              <a:path w="247650" h="247650">
                <a:moveTo>
                  <a:pt x="0" y="0"/>
                </a:moveTo>
                <a:lnTo>
                  <a:pt x="24765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C8102E"/>
            </a:solidFill>
            <a:prstDash val="solid"/>
          </a:ln>
        </p:spPr>
      </p:sp>
      <p:sp>
        <p:nvSpPr>
          <p:cNvPr id="24" name="existing-flow2-head">
            <a:extLst xmlns:a="http://schemas.openxmlformats.org/drawingml/2006/main">
              <a:ext uri="{FF2B5EF4-FFF2-40B4-BE49-F238E27FC236}">
                <a16:creationId xmlns:a16="http://schemas.microsoft.com/office/drawing/2014/main" id="{8C53A87A-1A20-4AD7-B3F3-7E6874F3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2133600" y="20288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existing-flow2-mark">
            <a:extLst xmlns:a="http://schemas.openxmlformats.org/drawingml/2006/main">
              <a:ext uri="{FF2B5EF4-FFF2-40B4-BE49-F238E27FC236}">
                <a16:creationId xmlns:a16="http://schemas.microsoft.com/office/drawing/2014/main" id="{5616598E-FC4B-4716-8455-3428D977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1336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26" name="existing-flow4">
            <a:extLst xmlns:a="http://schemas.openxmlformats.org/drawingml/2006/main">
              <a:ext uri="{FF2B5EF4-FFF2-40B4-BE49-F238E27FC236}">
                <a16:creationId xmlns:a16="http://schemas.microsoft.com/office/drawing/2014/main" id="{8E197A6D-D53F-4965-B611-86DDF1E4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105025"/>
            <a:ext cx="304800" cy="247650"/>
          </a:xfrm>
          <a:custGeom xmlns:a="http://schemas.openxmlformats.org/drawingml/2006/main">
            <a:pathLst>
              <a:path w="304800" h="247650">
                <a:moveTo>
                  <a:pt x="0" y="0"/>
                </a:moveTo>
                <a:lnTo>
                  <a:pt x="30480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F6368"/>
            </a:solidFill>
            <a:prstDash val="dash"/>
          </a:ln>
        </p:spPr>
      </p:sp>
      <p:sp>
        <p:nvSpPr>
          <p:cNvPr id="27" name="existing-flow4-head">
            <a:extLst xmlns:a="http://schemas.openxmlformats.org/drawingml/2006/main">
              <a:ext uri="{FF2B5EF4-FFF2-40B4-BE49-F238E27FC236}">
                <a16:creationId xmlns:a16="http://schemas.microsoft.com/office/drawing/2014/main" id="{6567F41D-C7E4-4BBE-81AA-8EE1229DA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2562225" y="22764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F6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existing-flow4-mark">
            <a:extLst xmlns:a="http://schemas.openxmlformats.org/drawingml/2006/main">
              <a:ext uri="{FF2B5EF4-FFF2-40B4-BE49-F238E27FC236}">
                <a16:creationId xmlns:a16="http://schemas.microsoft.com/office/drawing/2014/main" id="{3F6E9259-DD22-4D40-9DFE-DEE1BC6A8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1431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9" name="existing-flow5">
            <a:extLst xmlns:a="http://schemas.openxmlformats.org/drawingml/2006/main">
              <a:ext uri="{FF2B5EF4-FFF2-40B4-BE49-F238E27FC236}">
                <a16:creationId xmlns:a16="http://schemas.microsoft.com/office/drawing/2014/main" id="{766DD100-0193-4634-A1E5-F6843A0C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86075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C8102E"/>
            </a:solidFill>
            <a:prstDash val="solid"/>
          </a:ln>
        </p:spPr>
      </p:sp>
      <p:sp>
        <p:nvSpPr>
          <p:cNvPr id="30" name="existing-flow5-head">
            <a:extLst xmlns:a="http://schemas.openxmlformats.org/drawingml/2006/main">
              <a:ext uri="{FF2B5EF4-FFF2-40B4-BE49-F238E27FC236}">
                <a16:creationId xmlns:a16="http://schemas.microsoft.com/office/drawing/2014/main" id="{49134138-ACA5-4B80-BBE7-77B564D7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924175" y="30765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existing-flow5-mark">
            <a:extLst xmlns:a="http://schemas.openxmlformats.org/drawingml/2006/main">
              <a:ext uri="{FF2B5EF4-FFF2-40B4-BE49-F238E27FC236}">
                <a16:creationId xmlns:a16="http://schemas.microsoft.com/office/drawing/2014/main" id="{BA563ECB-3742-41FA-B4AA-369DCDF0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9146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⑤</a:t>
            </a:r>
          </a:p>
        </p:txBody>
      </p:sp>
      <p:sp>
        <p:nvSpPr>
          <p:cNvPr id="32" name="existing-flow6">
            <a:extLst xmlns:a="http://schemas.openxmlformats.org/drawingml/2006/main">
              <a:ext uri="{FF2B5EF4-FFF2-40B4-BE49-F238E27FC236}">
                <a16:creationId xmlns:a16="http://schemas.microsoft.com/office/drawing/2014/main" id="{A51FCB60-A2D3-4A44-B7CB-5470294C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895600"/>
            <a:ext cx="9525" cy="257175"/>
          </a:xfrm>
          <a:custGeom xmlns:a="http://schemas.openxmlformats.org/drawingml/2006/main">
            <a:pathLst>
              <a:path w="9525" h="257175">
                <a:moveTo>
                  <a:pt x="0" y="2571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F6368"/>
            </a:solidFill>
            <a:prstDash val="dash"/>
          </a:ln>
        </p:spPr>
      </p:sp>
      <p:sp>
        <p:nvSpPr>
          <p:cNvPr id="33" name="existing-flow6-head">
            <a:extLst xmlns:a="http://schemas.openxmlformats.org/drawingml/2006/main">
              <a:ext uri="{FF2B5EF4-FFF2-40B4-BE49-F238E27FC236}">
                <a16:creationId xmlns:a16="http://schemas.microsoft.com/office/drawing/2014/main" id="{6BDD4D81-92A6-473A-BE85-757161FE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28194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F6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existing-flow6-mark">
            <a:extLst xmlns:a="http://schemas.openxmlformats.org/drawingml/2006/main">
              <a:ext uri="{FF2B5EF4-FFF2-40B4-BE49-F238E27FC236}">
                <a16:creationId xmlns:a16="http://schemas.microsoft.com/office/drawing/2014/main" id="{E14B2581-BBAD-4B1F-8967-19942654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146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⑥</a:t>
            </a:r>
          </a:p>
        </p:txBody>
      </p:sp>
      <p:sp>
        <p:nvSpPr>
          <p:cNvPr id="35" name="proposed-frame">
            <a:extLst xmlns:a="http://schemas.openxmlformats.org/drawingml/2006/main">
              <a:ext uri="{FF2B5EF4-FFF2-40B4-BE49-F238E27FC236}">
                <a16:creationId xmlns:a16="http://schemas.microsoft.com/office/drawing/2014/main" id="{E43B1EE7-76FB-47CC-A52F-BDE4BFC73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66800"/>
            <a:ext cx="529590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36" name="proposed-tag">
            <a:extLst xmlns:a="http://schemas.openxmlformats.org/drawingml/2006/main">
              <a:ext uri="{FF2B5EF4-FFF2-40B4-BE49-F238E27FC236}">
                <a16:creationId xmlns:a16="http://schemas.microsoft.com/office/drawing/2014/main" id="{1BEF7607-DD9C-4F37-9C69-59930C554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162050"/>
            <a:ext cx="8953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roposed-tag-text">
            <a:extLst xmlns:a="http://schemas.openxmlformats.org/drawingml/2006/main">
              <a:ext uri="{FF2B5EF4-FFF2-40B4-BE49-F238E27FC236}">
                <a16:creationId xmlns:a16="http://schemas.microsoft.com/office/drawing/2014/main" id="{6DFE02A1-F7D0-4916-98D4-12656C31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162050"/>
            <a:ext cx="895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新方案</a:t>
            </a:r>
          </a:p>
        </p:txBody>
      </p:sp>
      <p:sp>
        <p:nvSpPr>
          <p:cNvPr id="38" name="proposed-heading">
            <a:extLst xmlns:a="http://schemas.openxmlformats.org/drawingml/2006/main">
              <a:ext uri="{FF2B5EF4-FFF2-40B4-BE49-F238E27FC236}">
                <a16:creationId xmlns:a16="http://schemas.microsoft.com/office/drawing/2014/main" id="{B8975855-BB63-4F2E-8E8F-6B896F24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152525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以 KVU L3 池替换 SSD</a:t>
            </a:r>
          </a:p>
        </p:txBody>
      </p:sp>
      <p:sp>
        <p:nvSpPr>
          <p:cNvPr id="39" name="proposed-P">
            <a:extLst xmlns:a="http://schemas.openxmlformats.org/drawingml/2006/main">
              <a:ext uri="{FF2B5EF4-FFF2-40B4-BE49-F238E27FC236}">
                <a16:creationId xmlns:a16="http://schemas.microsoft.com/office/drawing/2014/main" id="{0449940A-0207-4F72-984F-FC72DF82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81150"/>
            <a:ext cx="152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102E"/>
            </a:solidFill>
            <a:prstDash val="solid"/>
          </a:ln>
        </p:spPr>
      </p:sp>
      <p:sp>
        <p:nvSpPr>
          <p:cNvPr id="40" name="proposed-P-title">
            <a:extLst xmlns:a="http://schemas.openxmlformats.org/drawingml/2006/main">
              <a:ext uri="{FF2B5EF4-FFF2-40B4-BE49-F238E27FC236}">
                <a16:creationId xmlns:a16="http://schemas.microsoft.com/office/drawing/2014/main" id="{331B2C07-D1DB-4C1B-B041-0711E948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3830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P 节点 / HBM</a:t>
            </a:r>
          </a:p>
        </p:txBody>
      </p:sp>
      <p:sp>
        <p:nvSpPr>
          <p:cNvPr id="41" name="proposed-P-sub">
            <a:extLst xmlns:a="http://schemas.openxmlformats.org/drawingml/2006/main">
              <a:ext uri="{FF2B5EF4-FFF2-40B4-BE49-F238E27FC236}">
                <a16:creationId xmlns:a16="http://schemas.microsoft.com/office/drawing/2014/main" id="{0BFE6E0F-EA94-42ED-A4E8-2D4B6DAA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Prefill</a:t>
            </a:r>
          </a:p>
        </p:txBody>
      </p:sp>
      <p:sp>
        <p:nvSpPr>
          <p:cNvPr id="42" name="proposed-D">
            <a:extLst xmlns:a="http://schemas.openxmlformats.org/drawingml/2006/main">
              <a:ext uri="{FF2B5EF4-FFF2-40B4-BE49-F238E27FC236}">
                <a16:creationId xmlns:a16="http://schemas.microsoft.com/office/drawing/2014/main" id="{14C69803-3091-4AA9-AB53-9BDC58DC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581150"/>
            <a:ext cx="1524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102E"/>
            </a:solidFill>
            <a:prstDash val="solid"/>
          </a:ln>
        </p:spPr>
      </p:sp>
      <p:sp>
        <p:nvSpPr>
          <p:cNvPr id="43" name="proposed-D-title">
            <a:extLst xmlns:a="http://schemas.openxmlformats.org/drawingml/2006/main">
              <a:ext uri="{FF2B5EF4-FFF2-40B4-BE49-F238E27FC236}">
                <a16:creationId xmlns:a16="http://schemas.microsoft.com/office/drawing/2014/main" id="{24D2EAF6-83A2-4969-B638-4FA0F95E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638300"/>
            <a:ext cx="13716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D 阶段 / HBM</a:t>
            </a:r>
          </a:p>
        </p:txBody>
      </p:sp>
      <p:sp>
        <p:nvSpPr>
          <p:cNvPr id="44" name="proposed-D-sub">
            <a:extLst xmlns:a="http://schemas.openxmlformats.org/drawingml/2006/main">
              <a:ext uri="{FF2B5EF4-FFF2-40B4-BE49-F238E27FC236}">
                <a16:creationId xmlns:a16="http://schemas.microsoft.com/office/drawing/2014/main" id="{BA95A92D-FDE9-4AA8-AB46-260041E97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828800"/>
            <a:ext cx="1371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Decode</a:t>
            </a:r>
          </a:p>
        </p:txBody>
      </p:sp>
      <p:sp>
        <p:nvSpPr>
          <p:cNvPr id="45" name="proposed-flow3">
            <a:extLst xmlns:a="http://schemas.openxmlformats.org/drawingml/2006/main">
              <a:ext uri="{FF2B5EF4-FFF2-40B4-BE49-F238E27FC236}">
                <a16:creationId xmlns:a16="http://schemas.microsoft.com/office/drawing/2014/main" id="{26CA88F7-6155-43A4-A80F-71C0817E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47850"/>
            <a:ext cx="1828800" cy="9525"/>
          </a:xfrm>
          <a:custGeom xmlns:a="http://schemas.openxmlformats.org/drawingml/2006/main">
            <a:pathLst>
              <a:path w="1828800" h="9525">
                <a:moveTo>
                  <a:pt x="0" y="0"/>
                </a:moveTo>
                <a:lnTo>
                  <a:pt x="1828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C8102E"/>
            </a:solidFill>
            <a:prstDash val="solid"/>
          </a:ln>
        </p:spPr>
      </p:sp>
      <p:sp>
        <p:nvSpPr>
          <p:cNvPr id="46" name="proposed-flow3-head">
            <a:extLst xmlns:a="http://schemas.openxmlformats.org/drawingml/2006/main">
              <a:ext uri="{FF2B5EF4-FFF2-40B4-BE49-F238E27FC236}">
                <a16:creationId xmlns:a16="http://schemas.microsoft.com/office/drawing/2014/main" id="{C965D126-87D7-4FA8-8369-333FC41D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772650" y="177165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roposed-flow3-label">
            <a:extLst xmlns:a="http://schemas.openxmlformats.org/drawingml/2006/main">
              <a:ext uri="{FF2B5EF4-FFF2-40B4-BE49-F238E27FC236}">
                <a16:creationId xmlns:a16="http://schemas.microsoft.com/office/drawing/2014/main" id="{86AAFD74-FE2F-4A10-B19E-58C3ABC3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28775"/>
            <a:ext cx="95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ctr">
            <a:normAutofit fontScale="96562"/>
          </a:bodyPr>
          <a:lstStyle xmlns:a="http://schemas.openxmlformats.org/drawingml/2006/main">
            <a:def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③ P→D KV</a:t>
            </a:r>
          </a:p>
        </p:txBody>
      </p:sp>
      <p:sp>
        <p:nvSpPr>
          <p:cNvPr id="48" name="proposed-L2">
            <a:extLst xmlns:a="http://schemas.openxmlformats.org/drawingml/2006/main">
              <a:ext uri="{FF2B5EF4-FFF2-40B4-BE49-F238E27FC236}">
                <a16:creationId xmlns:a16="http://schemas.microsoft.com/office/drawing/2014/main" id="{FF3179B6-501A-4A7E-9583-1FED810D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62200"/>
            <a:ext cx="1905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8102E"/>
            </a:solidFill>
            <a:prstDash val="solid"/>
          </a:ln>
        </p:spPr>
      </p:sp>
      <p:sp>
        <p:nvSpPr>
          <p:cNvPr id="49" name="proposed-L2-title">
            <a:extLst xmlns:a="http://schemas.openxmlformats.org/drawingml/2006/main">
              <a:ext uri="{FF2B5EF4-FFF2-40B4-BE49-F238E27FC236}">
                <a16:creationId xmlns:a16="http://schemas.microsoft.com/office/drawing/2014/main" id="{1133AD3F-0BBC-48C6-A3A1-33CD0820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419350"/>
            <a:ext cx="1733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Host DDR · L2 池</a:t>
            </a:r>
          </a:p>
        </p:txBody>
      </p:sp>
      <p:sp>
        <p:nvSpPr>
          <p:cNvPr id="50" name="proposed-L2-sub">
            <a:extLst xmlns:a="http://schemas.openxmlformats.org/drawingml/2006/main">
              <a:ext uri="{FF2B5EF4-FFF2-40B4-BE49-F238E27FC236}">
                <a16:creationId xmlns:a16="http://schemas.microsoft.com/office/drawing/2014/main" id="{F14F7202-C491-4FAB-80AD-66E8B719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628900"/>
            <a:ext cx="1733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共享 Prefix KV</a:t>
            </a:r>
          </a:p>
        </p:txBody>
      </p:sp>
      <p:sp>
        <p:nvSpPr>
          <p:cNvPr id="51" name="proposed-L3">
            <a:extLst xmlns:a="http://schemas.openxmlformats.org/drawingml/2006/main">
              <a:ext uri="{FF2B5EF4-FFF2-40B4-BE49-F238E27FC236}">
                <a16:creationId xmlns:a16="http://schemas.microsoft.com/office/drawing/2014/main" id="{34EDC6E7-FF26-4696-99F8-D6C6ECBB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62300"/>
            <a:ext cx="1905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9050">
            <a:solidFill>
              <a:srgbClr val="C8102E"/>
            </a:solidFill>
            <a:prstDash val="solid"/>
          </a:ln>
        </p:spPr>
      </p:sp>
      <p:sp>
        <p:nvSpPr>
          <p:cNvPr id="52" name="proposed-L3-title">
            <a:extLst xmlns:a="http://schemas.openxmlformats.org/drawingml/2006/main">
              <a:ext uri="{FF2B5EF4-FFF2-40B4-BE49-F238E27FC236}">
                <a16:creationId xmlns:a16="http://schemas.microsoft.com/office/drawing/2014/main" id="{351FDB84-A919-4E36-9152-B1FFE034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190875"/>
            <a:ext cx="1733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0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0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0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0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0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0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0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0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0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KVU L3 池</a:t>
            </a:r>
          </a:p>
        </p:txBody>
      </p:sp>
      <p:sp>
        <p:nvSpPr>
          <p:cNvPr id="53" name="proposed-L3-sub">
            <a:extLst xmlns:a="http://schemas.openxmlformats.org/drawingml/2006/main">
              <a:ext uri="{FF2B5EF4-FFF2-40B4-BE49-F238E27FC236}">
                <a16:creationId xmlns:a16="http://schemas.microsoft.com/office/drawing/2014/main" id="{D169861B-0978-4C4D-A2B8-9723838B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371850"/>
            <a:ext cx="1733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替代 SSD 的 L3 池</a:t>
            </a:r>
          </a:p>
        </p:txBody>
      </p:sp>
      <p:sp>
        <p:nvSpPr>
          <p:cNvPr id="54" name="proposed-flow2">
            <a:extLst xmlns:a="http://schemas.openxmlformats.org/drawingml/2006/main">
              <a:ext uri="{FF2B5EF4-FFF2-40B4-BE49-F238E27FC236}">
                <a16:creationId xmlns:a16="http://schemas.microsoft.com/office/drawing/2014/main" id="{A4F75404-4670-47B5-8FAA-924E8430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105025"/>
            <a:ext cx="247650" cy="247650"/>
          </a:xfrm>
          <a:custGeom xmlns:a="http://schemas.openxmlformats.org/drawingml/2006/main">
            <a:pathLst>
              <a:path w="247650" h="247650">
                <a:moveTo>
                  <a:pt x="0" y="0"/>
                </a:moveTo>
                <a:lnTo>
                  <a:pt x="24765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C8102E"/>
            </a:solidFill>
            <a:prstDash val="solid"/>
          </a:ln>
        </p:spPr>
      </p:sp>
      <p:sp>
        <p:nvSpPr>
          <p:cNvPr id="55" name="proposed-flow2-head">
            <a:extLst xmlns:a="http://schemas.openxmlformats.org/drawingml/2006/main">
              <a:ext uri="{FF2B5EF4-FFF2-40B4-BE49-F238E27FC236}">
                <a16:creationId xmlns:a16="http://schemas.microsoft.com/office/drawing/2014/main" id="{D0CC52D5-4017-43A1-9E84-69CAE963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00000">
            <a:off x="7810500" y="20288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roposed-flow2-mark">
            <a:extLst xmlns:a="http://schemas.openxmlformats.org/drawingml/2006/main">
              <a:ext uri="{FF2B5EF4-FFF2-40B4-BE49-F238E27FC236}">
                <a16:creationId xmlns:a16="http://schemas.microsoft.com/office/drawing/2014/main" id="{AC88328E-B398-408B-8390-EF8196D3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13360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57" name="proposed-flow4">
            <a:extLst xmlns:a="http://schemas.openxmlformats.org/drawingml/2006/main">
              <a:ext uri="{FF2B5EF4-FFF2-40B4-BE49-F238E27FC236}">
                <a16:creationId xmlns:a16="http://schemas.microsoft.com/office/drawing/2014/main" id="{1B3ECF98-E0F4-491B-AB3F-A8D9BE78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05025"/>
            <a:ext cx="304800" cy="247650"/>
          </a:xfrm>
          <a:custGeom xmlns:a="http://schemas.openxmlformats.org/drawingml/2006/main">
            <a:pathLst>
              <a:path w="304800" h="247650">
                <a:moveTo>
                  <a:pt x="0" y="0"/>
                </a:moveTo>
                <a:lnTo>
                  <a:pt x="30480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F6368"/>
            </a:solidFill>
            <a:prstDash val="dash"/>
          </a:ln>
        </p:spPr>
      </p:sp>
      <p:sp>
        <p:nvSpPr>
          <p:cNvPr id="58" name="proposed-flow4-head">
            <a:extLst xmlns:a="http://schemas.openxmlformats.org/drawingml/2006/main">
              <a:ext uri="{FF2B5EF4-FFF2-40B4-BE49-F238E27FC236}">
                <a16:creationId xmlns:a16="http://schemas.microsoft.com/office/drawing/2014/main" id="{7570DC69-DF69-4F13-810B-332B7275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8239125" y="22764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F6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roposed-flow4-mark">
            <a:extLst xmlns:a="http://schemas.openxmlformats.org/drawingml/2006/main">
              <a:ext uri="{FF2B5EF4-FFF2-40B4-BE49-F238E27FC236}">
                <a16:creationId xmlns:a16="http://schemas.microsoft.com/office/drawing/2014/main" id="{3B16516B-1FBC-4D5F-81A8-0C936707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143125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60" name="proposed-flow5">
            <a:extLst xmlns:a="http://schemas.openxmlformats.org/drawingml/2006/main">
              <a:ext uri="{FF2B5EF4-FFF2-40B4-BE49-F238E27FC236}">
                <a16:creationId xmlns:a16="http://schemas.microsoft.com/office/drawing/2014/main" id="{EA289C19-E8D8-42E5-9075-D18BB5B2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886075"/>
            <a:ext cx="9525" cy="266700"/>
          </a:xfrm>
          <a:custGeom xmlns:a="http://schemas.openxmlformats.org/drawingml/2006/main"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C8102E"/>
            </a:solidFill>
            <a:prstDash val="solid"/>
          </a:ln>
        </p:spPr>
      </p:sp>
      <p:sp>
        <p:nvSpPr>
          <p:cNvPr id="61" name="proposed-flow5-head">
            <a:extLst xmlns:a="http://schemas.openxmlformats.org/drawingml/2006/main">
              <a:ext uri="{FF2B5EF4-FFF2-40B4-BE49-F238E27FC236}">
                <a16:creationId xmlns:a16="http://schemas.microsoft.com/office/drawing/2014/main" id="{BF8DBBB3-A1FE-4924-B658-6E32D63B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601075" y="30765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810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roposed-flow5-mark">
            <a:extLst xmlns:a="http://schemas.openxmlformats.org/drawingml/2006/main">
              <a:ext uri="{FF2B5EF4-FFF2-40B4-BE49-F238E27FC236}">
                <a16:creationId xmlns:a16="http://schemas.microsoft.com/office/drawing/2014/main" id="{E129C7F0-547C-4EDE-B6A6-7646E481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⑤</a:t>
            </a:r>
          </a:p>
        </p:txBody>
      </p:sp>
      <p:sp>
        <p:nvSpPr>
          <p:cNvPr id="63" name="proposed-flow6">
            <a:extLst xmlns:a="http://schemas.openxmlformats.org/drawingml/2006/main">
              <a:ext uri="{FF2B5EF4-FFF2-40B4-BE49-F238E27FC236}">
                <a16:creationId xmlns:a16="http://schemas.microsoft.com/office/drawing/2014/main" id="{30DE8641-A49D-4773-8B26-90C7EC03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895600"/>
            <a:ext cx="9525" cy="257175"/>
          </a:xfrm>
          <a:custGeom xmlns:a="http://schemas.openxmlformats.org/drawingml/2006/main">
            <a:pathLst>
              <a:path w="9525" h="257175">
                <a:moveTo>
                  <a:pt x="0" y="2571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5F6368"/>
            </a:solidFill>
            <a:prstDash val="dash"/>
          </a:ln>
        </p:spPr>
      </p:sp>
      <p:sp>
        <p:nvSpPr>
          <p:cNvPr id="64" name="proposed-flow6-head">
            <a:extLst xmlns:a="http://schemas.openxmlformats.org/drawingml/2006/main">
              <a:ext uri="{FF2B5EF4-FFF2-40B4-BE49-F238E27FC236}">
                <a16:creationId xmlns:a16="http://schemas.microsoft.com/office/drawing/2014/main" id="{E0FCAD0A-2A35-4ED5-B3D2-85B926E2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4950" y="2819400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F6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roposed-flow6-mark">
            <a:extLst xmlns:a="http://schemas.openxmlformats.org/drawingml/2006/main">
              <a:ext uri="{FF2B5EF4-FFF2-40B4-BE49-F238E27FC236}">
                <a16:creationId xmlns:a16="http://schemas.microsoft.com/office/drawing/2014/main" id="{FA15CAA8-F391-4985-8439-8233008C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14650"/>
            <a:ext cx="228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" tIns="9525" rIns="9525" bIns="9525" anchor="ctr">
            <a:normAutofit fontScale="100000"/>
          </a:bodyPr>
          <a:lstStyle xmlns:a="http://schemas.openxmlformats.org/drawingml/2006/main">
            <a:def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⑥</a:t>
            </a:r>
          </a:p>
        </p:txBody>
      </p:sp>
      <p:sp>
        <p:nvSpPr>
          <p:cNvPr id="66" name="table-title">
            <a:extLst xmlns:a="http://schemas.openxmlformats.org/drawingml/2006/main">
              <a:ext uri="{FF2B5EF4-FFF2-40B4-BE49-F238E27FC236}">
                <a16:creationId xmlns:a16="http://schemas.microsoft.com/office/drawing/2014/main" id="{51DD4618-9A06-4F8D-8A6A-C2212262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两种方案共用的数据流量与容量估算</a:t>
            </a:r>
          </a:p>
        </p:txBody>
      </p:sp>
      <p:sp>
        <p:nvSpPr>
          <p:cNvPr id="67" name="table-units">
            <a:extLst xmlns:a="http://schemas.openxmlformats.org/drawingml/2006/main">
              <a:ext uri="{FF2B5EF4-FFF2-40B4-BE49-F238E27FC236}">
                <a16:creationId xmlns:a16="http://schemas.microsoft.com/office/drawing/2014/main" id="{02DE1A20-726B-4C59-87CC-6F9509E92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538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Qwen3-235B-A22B BF16｜每 token 汇总全部 94 层 KV</a:t>
            </a:r>
          </a:p>
        </p:txBody>
      </p:sp>
      <p:sp>
        <p:nvSpPr>
          <p:cNvPr id="68" name="table-head-bg-0">
            <a:extLst xmlns:a="http://schemas.openxmlformats.org/drawingml/2006/main">
              <a:ext uri="{FF2B5EF4-FFF2-40B4-BE49-F238E27FC236}">
                <a16:creationId xmlns:a16="http://schemas.microsoft.com/office/drawing/2014/main" id="{ECCD3ED5-75E4-49D5-8984-27E9CFDC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69" name="table-head-0">
            <a:extLst xmlns:a="http://schemas.openxmlformats.org/drawingml/2006/main">
              <a:ext uri="{FF2B5EF4-FFF2-40B4-BE49-F238E27FC236}">
                <a16:creationId xmlns:a16="http://schemas.microsoft.com/office/drawing/2014/main" id="{C9B42B39-1B73-47B1-8154-881A6B78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编号 / 流量</a:t>
            </a:r>
          </a:p>
        </p:txBody>
      </p:sp>
      <p:sp>
        <p:nvSpPr>
          <p:cNvPr id="70" name="table-head-bg-1">
            <a:extLst xmlns:a="http://schemas.openxmlformats.org/drawingml/2006/main">
              <a:ext uri="{FF2B5EF4-FFF2-40B4-BE49-F238E27FC236}">
                <a16:creationId xmlns:a16="http://schemas.microsoft.com/office/drawing/2014/main" id="{FA2DDE5A-20E8-4993-A7A1-334C24A4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98145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1" name="table-head-1">
            <a:extLst xmlns:a="http://schemas.openxmlformats.org/drawingml/2006/main">
              <a:ext uri="{FF2B5EF4-FFF2-40B4-BE49-F238E27FC236}">
                <a16:creationId xmlns:a16="http://schemas.microsoft.com/office/drawing/2014/main" id="{ABCDB097-BD77-4C46-BA66-BD2EA121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方向 / 路径</a:t>
            </a:r>
          </a:p>
        </p:txBody>
      </p:sp>
      <p:sp>
        <p:nvSpPr>
          <p:cNvPr id="72" name="table-head-bg-2">
            <a:extLst xmlns:a="http://schemas.openxmlformats.org/drawingml/2006/main">
              <a:ext uri="{FF2B5EF4-FFF2-40B4-BE49-F238E27FC236}">
                <a16:creationId xmlns:a16="http://schemas.microsoft.com/office/drawing/2014/main" id="{0C6BDE06-6298-4027-BFC4-E9DFC2E2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981450"/>
            <a:ext cx="1809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3" name="table-head-2">
            <a:extLst xmlns:a="http://schemas.openxmlformats.org/drawingml/2006/main">
              <a:ext uri="{FF2B5EF4-FFF2-40B4-BE49-F238E27FC236}">
                <a16:creationId xmlns:a16="http://schemas.microsoft.com/office/drawing/2014/main" id="{9EFF5BD7-EAF6-4C22-9E55-CC12F900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00500"/>
            <a:ext cx="1657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单次逻辑 IO 大小</a:t>
            </a:r>
          </a:p>
        </p:txBody>
      </p:sp>
      <p:sp>
        <p:nvSpPr>
          <p:cNvPr id="74" name="table-head-bg-3">
            <a:extLst xmlns:a="http://schemas.openxmlformats.org/drawingml/2006/main">
              <a:ext uri="{FF2B5EF4-FFF2-40B4-BE49-F238E27FC236}">
                <a16:creationId xmlns:a16="http://schemas.microsoft.com/office/drawing/2014/main" id="{1DFCFE19-B51B-4042-87A9-CBC95921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981450"/>
            <a:ext cx="3381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5" name="table-head-3">
            <a:extLst xmlns:a="http://schemas.openxmlformats.org/drawingml/2006/main">
              <a:ext uri="{FF2B5EF4-FFF2-40B4-BE49-F238E27FC236}">
                <a16:creationId xmlns:a16="http://schemas.microsoft.com/office/drawing/2014/main" id="{DE6AFFC3-8B98-484B-A67C-EB3F983B0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000500"/>
            <a:ext cx="3228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32K 全量逻辑 IO / 数据量</a:t>
            </a:r>
          </a:p>
        </p:txBody>
      </p:sp>
      <p:sp>
        <p:nvSpPr>
          <p:cNvPr id="76" name="table-head-bg-4">
            <a:extLst xmlns:a="http://schemas.openxmlformats.org/drawingml/2006/main">
              <a:ext uri="{FF2B5EF4-FFF2-40B4-BE49-F238E27FC236}">
                <a16:creationId xmlns:a16="http://schemas.microsoft.com/office/drawing/2014/main" id="{69B95038-4709-4E81-AB66-638F7695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981450"/>
            <a:ext cx="26193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7" name="table-head-4">
            <a:extLst xmlns:a="http://schemas.openxmlformats.org/drawingml/2006/main">
              <a:ext uri="{FF2B5EF4-FFF2-40B4-BE49-F238E27FC236}">
                <a16:creationId xmlns:a16="http://schemas.microsoft.com/office/drawing/2014/main" id="{DB2A6F90-DC79-464E-BB85-74B8E587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000500"/>
            <a:ext cx="24669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30 ms 等效带宽*</a:t>
            </a:r>
          </a:p>
        </p:txBody>
      </p:sp>
      <p:sp>
        <p:nvSpPr>
          <p:cNvPr id="78" name="cell-0-0">
            <a:extLst xmlns:a="http://schemas.openxmlformats.org/drawingml/2006/main">
              <a:ext uri="{FF2B5EF4-FFF2-40B4-BE49-F238E27FC236}">
                <a16:creationId xmlns:a16="http://schemas.microsoft.com/office/drawing/2014/main" id="{1196F891-A3D0-4400-AC8F-54171BDC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1409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79" name="cell-text-0-0">
            <a:extLst xmlns:a="http://schemas.openxmlformats.org/drawingml/2006/main">
              <a:ext uri="{FF2B5EF4-FFF2-40B4-BE49-F238E27FC236}">
                <a16:creationId xmlns:a16="http://schemas.microsoft.com/office/drawing/2014/main" id="{D5AF7A57-9657-4BB5-912C-647A5B3A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267200"/>
            <a:ext cx="1276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1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1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1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1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1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1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1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1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1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1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② L2 命中读取</a:t>
            </a:r>
          </a:p>
        </p:txBody>
      </p:sp>
      <p:sp>
        <p:nvSpPr>
          <p:cNvPr id="80" name="cell-0-1">
            <a:extLst xmlns:a="http://schemas.openxmlformats.org/drawingml/2006/main">
              <a:ext uri="{FF2B5EF4-FFF2-40B4-BE49-F238E27FC236}">
                <a16:creationId xmlns:a16="http://schemas.microsoft.com/office/drawing/2014/main" id="{3EEB0282-1EE4-48B3-8F73-B85857BA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248150"/>
            <a:ext cx="1752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1" name="cell-text-0-1">
            <a:extLst xmlns:a="http://schemas.openxmlformats.org/drawingml/2006/main">
              <a:ext uri="{FF2B5EF4-FFF2-40B4-BE49-F238E27FC236}">
                <a16:creationId xmlns:a16="http://schemas.microsoft.com/office/drawing/2014/main" id="{2554EEA4-7384-4D5A-97DD-3F6C82EA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2672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Host DDR → P HBM</a:t>
            </a:r>
          </a:p>
        </p:txBody>
      </p:sp>
      <p:sp>
        <p:nvSpPr>
          <p:cNvPr id="82" name="cell-0-2">
            <a:extLst xmlns:a="http://schemas.openxmlformats.org/drawingml/2006/main">
              <a:ext uri="{FF2B5EF4-FFF2-40B4-BE49-F238E27FC236}">
                <a16:creationId xmlns:a16="http://schemas.microsoft.com/office/drawing/2014/main" id="{ECD171A6-3FA8-48B8-B87A-120F56AA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48150"/>
            <a:ext cx="1809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3" name="cell-text-0-2">
            <a:extLst xmlns:a="http://schemas.openxmlformats.org/drawingml/2006/main">
              <a:ext uri="{FF2B5EF4-FFF2-40B4-BE49-F238E27FC236}">
                <a16:creationId xmlns:a16="http://schemas.microsoft.com/office/drawing/2014/main" id="{65B321D4-E6AB-4A4E-81D3-8330F72E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267200"/>
            <a:ext cx="167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188 KiB / token</a:t>
            </a:r>
          </a:p>
        </p:txBody>
      </p:sp>
      <p:sp>
        <p:nvSpPr>
          <p:cNvPr id="84" name="cell-0-3">
            <a:extLst xmlns:a="http://schemas.openxmlformats.org/drawingml/2006/main">
              <a:ext uri="{FF2B5EF4-FFF2-40B4-BE49-F238E27FC236}">
                <a16:creationId xmlns:a16="http://schemas.microsoft.com/office/drawing/2014/main" id="{E36F2679-D278-4AE3-91DD-0414FD6E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248150"/>
            <a:ext cx="3381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5" name="cell-text-0-3">
            <a:extLst xmlns:a="http://schemas.openxmlformats.org/drawingml/2006/main">
              <a:ext uri="{FF2B5EF4-FFF2-40B4-BE49-F238E27FC236}">
                <a16:creationId xmlns:a16="http://schemas.microsoft.com/office/drawing/2014/main" id="{D43373C6-9E78-4169-94F0-B683F4C8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267200"/>
            <a:ext cx="3248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32,768 次 / 6.31 GB</a:t>
            </a:r>
          </a:p>
        </p:txBody>
      </p:sp>
      <p:sp>
        <p:nvSpPr>
          <p:cNvPr id="86" name="cell-0-4">
            <a:extLst xmlns:a="http://schemas.openxmlformats.org/drawingml/2006/main">
              <a:ext uri="{FF2B5EF4-FFF2-40B4-BE49-F238E27FC236}">
                <a16:creationId xmlns:a16="http://schemas.microsoft.com/office/drawing/2014/main" id="{A06C8AD2-48EA-4F22-B97F-852729AD6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248150"/>
            <a:ext cx="2619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7" name="cell-text-0-4">
            <a:extLst xmlns:a="http://schemas.openxmlformats.org/drawingml/2006/main">
              <a:ext uri="{FF2B5EF4-FFF2-40B4-BE49-F238E27FC236}">
                <a16:creationId xmlns:a16="http://schemas.microsoft.com/office/drawing/2014/main" id="{044824CC-E7E6-465D-963E-D487A1D4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67200"/>
            <a:ext cx="2486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210.3 GB/s*</a:t>
            </a:r>
          </a:p>
        </p:txBody>
      </p:sp>
      <p:sp>
        <p:nvSpPr>
          <p:cNvPr id="88" name="cell-1-0">
            <a:extLst xmlns:a="http://schemas.openxmlformats.org/drawingml/2006/main">
              <a:ext uri="{FF2B5EF4-FFF2-40B4-BE49-F238E27FC236}">
                <a16:creationId xmlns:a16="http://schemas.microsoft.com/office/drawing/2014/main" id="{C925285D-A7E4-4EA3-934B-29A658CE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409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89" name="cell-text-1-0">
            <a:extLst xmlns:a="http://schemas.openxmlformats.org/drawingml/2006/main">
              <a:ext uri="{FF2B5EF4-FFF2-40B4-BE49-F238E27FC236}">
                <a16:creationId xmlns:a16="http://schemas.microsoft.com/office/drawing/2014/main" id="{A0E2783B-4CDC-42FF-893F-ED2F02A0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00575"/>
            <a:ext cx="1276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③ P→D 实时 KV</a:t>
            </a:r>
          </a:p>
        </p:txBody>
      </p:sp>
      <p:sp>
        <p:nvSpPr>
          <p:cNvPr id="90" name="cell-1-1">
            <a:extLst xmlns:a="http://schemas.openxmlformats.org/drawingml/2006/main">
              <a:ext uri="{FF2B5EF4-FFF2-40B4-BE49-F238E27FC236}">
                <a16:creationId xmlns:a16="http://schemas.microsoft.com/office/drawing/2014/main" id="{B014D279-513F-4839-A8CC-77F95974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581525"/>
            <a:ext cx="1752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1" name="cell-text-1-1">
            <a:extLst xmlns:a="http://schemas.openxmlformats.org/drawingml/2006/main">
              <a:ext uri="{FF2B5EF4-FFF2-40B4-BE49-F238E27FC236}">
                <a16:creationId xmlns:a16="http://schemas.microsoft.com/office/drawing/2014/main" id="{22A2340D-D98F-4E9F-B459-A617A3113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600575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P HBM → D HBM</a:t>
            </a:r>
          </a:p>
        </p:txBody>
      </p:sp>
      <p:sp>
        <p:nvSpPr>
          <p:cNvPr id="92" name="cell-1-2">
            <a:extLst xmlns:a="http://schemas.openxmlformats.org/drawingml/2006/main">
              <a:ext uri="{FF2B5EF4-FFF2-40B4-BE49-F238E27FC236}">
                <a16:creationId xmlns:a16="http://schemas.microsoft.com/office/drawing/2014/main" id="{30E1A31D-9663-4889-BDFA-D0B84CD5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581525"/>
            <a:ext cx="1809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3" name="cell-text-1-2">
            <a:extLst xmlns:a="http://schemas.openxmlformats.org/drawingml/2006/main">
              <a:ext uri="{FF2B5EF4-FFF2-40B4-BE49-F238E27FC236}">
                <a16:creationId xmlns:a16="http://schemas.microsoft.com/office/drawing/2014/main" id="{4B88729B-019D-40DC-A082-0ECABF93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600575"/>
            <a:ext cx="167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188 KiB / token</a:t>
            </a:r>
          </a:p>
        </p:txBody>
      </p:sp>
      <p:sp>
        <p:nvSpPr>
          <p:cNvPr id="94" name="cell-1-3">
            <a:extLst xmlns:a="http://schemas.openxmlformats.org/drawingml/2006/main">
              <a:ext uri="{FF2B5EF4-FFF2-40B4-BE49-F238E27FC236}">
                <a16:creationId xmlns:a16="http://schemas.microsoft.com/office/drawing/2014/main" id="{07E28F70-C28C-4061-B2B5-17A41A7D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581525"/>
            <a:ext cx="3381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5" name="cell-text-1-3">
            <a:extLst xmlns:a="http://schemas.openxmlformats.org/drawingml/2006/main">
              <a:ext uri="{FF2B5EF4-FFF2-40B4-BE49-F238E27FC236}">
                <a16:creationId xmlns:a16="http://schemas.microsoft.com/office/drawing/2014/main" id="{4A236DB5-AB63-4498-B1E2-88261C874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600575"/>
            <a:ext cx="3248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D 冷启动：32,768 次 / 6.31 GB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D 全命中：0 次 / 0 GB</a:t>
            </a:r>
          </a:p>
        </p:txBody>
      </p:sp>
      <p:sp>
        <p:nvSpPr>
          <p:cNvPr id="96" name="cell-1-4">
            <a:extLst xmlns:a="http://schemas.openxmlformats.org/drawingml/2006/main">
              <a:ext uri="{FF2B5EF4-FFF2-40B4-BE49-F238E27FC236}">
                <a16:creationId xmlns:a16="http://schemas.microsoft.com/office/drawing/2014/main" id="{3E2F1260-1878-498A-956B-88488F59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81525"/>
            <a:ext cx="2619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7" name="cell-text-1-4">
            <a:extLst xmlns:a="http://schemas.openxmlformats.org/drawingml/2006/main">
              <a:ext uri="{FF2B5EF4-FFF2-40B4-BE49-F238E27FC236}">
                <a16:creationId xmlns:a16="http://schemas.microsoft.com/office/drawing/2014/main" id="{C86FC2BF-3F86-4FA8-AA09-1754BCA4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600575"/>
            <a:ext cx="2486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" b="0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35" b="0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35" b="0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35" b="0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35" b="0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35" b="0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35" b="0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35" b="0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35" b="0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35" b="0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冷启动：210.3 GB/s*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D 全命中：0</a:t>
            </a:r>
          </a:p>
        </p:txBody>
      </p:sp>
      <p:sp>
        <p:nvSpPr>
          <p:cNvPr id="98" name="cell-2-0">
            <a:extLst xmlns:a="http://schemas.openxmlformats.org/drawingml/2006/main">
              <a:ext uri="{FF2B5EF4-FFF2-40B4-BE49-F238E27FC236}">
                <a16:creationId xmlns:a16="http://schemas.microsoft.com/office/drawing/2014/main" id="{8882D55B-8835-4D69-90BC-FFA559AC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1409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99" name="cell-text-2-0">
            <a:extLst xmlns:a="http://schemas.openxmlformats.org/drawingml/2006/main">
              <a:ext uri="{FF2B5EF4-FFF2-40B4-BE49-F238E27FC236}">
                <a16:creationId xmlns:a16="http://schemas.microsoft.com/office/drawing/2014/main" id="{44DA267A-F1E8-40B7-8DA6-E7267A6C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933950"/>
            <a:ext cx="1276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1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1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1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1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1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1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1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1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1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1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④ L2 写回</a:t>
            </a:r>
          </a:p>
        </p:txBody>
      </p:sp>
      <p:sp>
        <p:nvSpPr>
          <p:cNvPr id="100" name="cell-2-1">
            <a:extLst xmlns:a="http://schemas.openxmlformats.org/drawingml/2006/main">
              <a:ext uri="{FF2B5EF4-FFF2-40B4-BE49-F238E27FC236}">
                <a16:creationId xmlns:a16="http://schemas.microsoft.com/office/drawing/2014/main" id="{F70A6DE5-5326-4D8C-B8F3-B6C5E3BC8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14900"/>
            <a:ext cx="1752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1" name="cell-text-2-1">
            <a:extLst xmlns:a="http://schemas.openxmlformats.org/drawingml/2006/main">
              <a:ext uri="{FF2B5EF4-FFF2-40B4-BE49-F238E27FC236}">
                <a16:creationId xmlns:a16="http://schemas.microsoft.com/office/drawing/2014/main" id="{285D513D-52D3-417F-A0EB-69681BB46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93395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P HBM → Host DDR</a:t>
            </a:r>
          </a:p>
        </p:txBody>
      </p:sp>
      <p:sp>
        <p:nvSpPr>
          <p:cNvPr id="102" name="cell-2-2">
            <a:extLst xmlns:a="http://schemas.openxmlformats.org/drawingml/2006/main">
              <a:ext uri="{FF2B5EF4-FFF2-40B4-BE49-F238E27FC236}">
                <a16:creationId xmlns:a16="http://schemas.microsoft.com/office/drawing/2014/main" id="{E2175574-4FA0-4639-B8FA-02726DBA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914900"/>
            <a:ext cx="1809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3" name="cell-text-2-2">
            <a:extLst xmlns:a="http://schemas.openxmlformats.org/drawingml/2006/main">
              <a:ext uri="{FF2B5EF4-FFF2-40B4-BE49-F238E27FC236}">
                <a16:creationId xmlns:a16="http://schemas.microsoft.com/office/drawing/2014/main" id="{5F054CE1-B4F0-4BEF-AE82-378B5D97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933950"/>
            <a:ext cx="167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188 KiB / token</a:t>
            </a:r>
          </a:p>
        </p:txBody>
      </p:sp>
      <p:sp>
        <p:nvSpPr>
          <p:cNvPr id="104" name="cell-2-3">
            <a:extLst xmlns:a="http://schemas.openxmlformats.org/drawingml/2006/main">
              <a:ext uri="{FF2B5EF4-FFF2-40B4-BE49-F238E27FC236}">
                <a16:creationId xmlns:a16="http://schemas.microsoft.com/office/drawing/2014/main" id="{E7DE7E14-F3F4-4FD2-BD23-58163E2A7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914900"/>
            <a:ext cx="3381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5" name="cell-text-2-3">
            <a:extLst xmlns:a="http://schemas.openxmlformats.org/drawingml/2006/main">
              <a:ext uri="{FF2B5EF4-FFF2-40B4-BE49-F238E27FC236}">
                <a16:creationId xmlns:a16="http://schemas.microsoft.com/office/drawing/2014/main" id="{07D21E4C-3E2B-426D-80A6-978F41BE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933950"/>
            <a:ext cx="3248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32,768 次 / 6.31 GB</a:t>
            </a:r>
          </a:p>
        </p:txBody>
      </p:sp>
      <p:sp>
        <p:nvSpPr>
          <p:cNvPr id="106" name="cell-2-4">
            <a:extLst xmlns:a="http://schemas.openxmlformats.org/drawingml/2006/main">
              <a:ext uri="{FF2B5EF4-FFF2-40B4-BE49-F238E27FC236}">
                <a16:creationId xmlns:a16="http://schemas.microsoft.com/office/drawing/2014/main" id="{2AC0FB4D-11EB-40B5-9F46-C6A35B7A4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914900"/>
            <a:ext cx="2619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7" name="cell-text-2-4">
            <a:extLst xmlns:a="http://schemas.openxmlformats.org/drawingml/2006/main">
              <a:ext uri="{FF2B5EF4-FFF2-40B4-BE49-F238E27FC236}">
                <a16:creationId xmlns:a16="http://schemas.microsoft.com/office/drawing/2014/main" id="{26B7F1DE-3DFE-4295-B7C0-7842B3B9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933950"/>
            <a:ext cx="2486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210.3 GB/s*</a:t>
            </a:r>
          </a:p>
        </p:txBody>
      </p:sp>
      <p:sp>
        <p:nvSpPr>
          <p:cNvPr id="108" name="cell-3-0">
            <a:extLst xmlns:a="http://schemas.openxmlformats.org/drawingml/2006/main">
              <a:ext uri="{FF2B5EF4-FFF2-40B4-BE49-F238E27FC236}">
                <a16:creationId xmlns:a16="http://schemas.microsoft.com/office/drawing/2014/main" id="{A0FD079A-1246-4697-A557-B4E509B97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409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09" name="cell-text-3-0">
            <a:extLst xmlns:a="http://schemas.openxmlformats.org/drawingml/2006/main">
              <a:ext uri="{FF2B5EF4-FFF2-40B4-BE49-F238E27FC236}">
                <a16:creationId xmlns:a16="http://schemas.microsoft.com/office/drawing/2014/main" id="{ABE34866-3E81-498A-986C-FA0A6774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267325"/>
            <a:ext cx="1276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⑤ L2 下沉</a:t>
            </a:r>
          </a:p>
        </p:txBody>
      </p:sp>
      <p:sp>
        <p:nvSpPr>
          <p:cNvPr id="110" name="cell-3-1">
            <a:extLst xmlns:a="http://schemas.openxmlformats.org/drawingml/2006/main">
              <a:ext uri="{FF2B5EF4-FFF2-40B4-BE49-F238E27FC236}">
                <a16:creationId xmlns:a16="http://schemas.microsoft.com/office/drawing/2014/main" id="{77CD73F0-E068-46E1-9C10-18955000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48275"/>
            <a:ext cx="1752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1" name="cell-text-3-1">
            <a:extLst xmlns:a="http://schemas.openxmlformats.org/drawingml/2006/main">
              <a:ext uri="{FF2B5EF4-FFF2-40B4-BE49-F238E27FC236}">
                <a16:creationId xmlns:a16="http://schemas.microsoft.com/office/drawing/2014/main" id="{1E2B774A-FFFC-4F5B-B583-6188F6B1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267325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Host DDR → L3（SSD / KVU）</a:t>
            </a:r>
          </a:p>
        </p:txBody>
      </p:sp>
      <p:sp>
        <p:nvSpPr>
          <p:cNvPr id="112" name="cell-3-2">
            <a:extLst xmlns:a="http://schemas.openxmlformats.org/drawingml/2006/main">
              <a:ext uri="{FF2B5EF4-FFF2-40B4-BE49-F238E27FC236}">
                <a16:creationId xmlns:a16="http://schemas.microsoft.com/office/drawing/2014/main" id="{3EBD49E2-8A7C-42B3-A47C-0DDD04059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248275"/>
            <a:ext cx="1809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3" name="cell-text-3-2">
            <a:extLst xmlns:a="http://schemas.openxmlformats.org/drawingml/2006/main">
              <a:ext uri="{FF2B5EF4-FFF2-40B4-BE49-F238E27FC236}">
                <a16:creationId xmlns:a16="http://schemas.microsoft.com/office/drawing/2014/main" id="{7E401A8B-7C73-47E4-AB68-41B36422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267325"/>
            <a:ext cx="167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188 KiB / token</a:t>
            </a:r>
          </a:p>
        </p:txBody>
      </p:sp>
      <p:sp>
        <p:nvSpPr>
          <p:cNvPr id="114" name="cell-3-3">
            <a:extLst xmlns:a="http://schemas.openxmlformats.org/drawingml/2006/main">
              <a:ext uri="{FF2B5EF4-FFF2-40B4-BE49-F238E27FC236}">
                <a16:creationId xmlns:a16="http://schemas.microsoft.com/office/drawing/2014/main" id="{408A8D57-2CE6-40C9-A669-29A86D3E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248275"/>
            <a:ext cx="3381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5" name="cell-text-3-3">
            <a:extLst xmlns:a="http://schemas.openxmlformats.org/drawingml/2006/main">
              <a:ext uri="{FF2B5EF4-FFF2-40B4-BE49-F238E27FC236}">
                <a16:creationId xmlns:a16="http://schemas.microsoft.com/office/drawing/2014/main" id="{47F6FC5A-F35B-4DBC-B4E5-5E8CE5BF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267325"/>
            <a:ext cx="3248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按淘汰量；全量 32,768 次 / 6.31 GB</a:t>
            </a:r>
          </a:p>
        </p:txBody>
      </p:sp>
      <p:sp>
        <p:nvSpPr>
          <p:cNvPr id="116" name="cell-3-4">
            <a:extLst xmlns:a="http://schemas.openxmlformats.org/drawingml/2006/main">
              <a:ext uri="{FF2B5EF4-FFF2-40B4-BE49-F238E27FC236}">
                <a16:creationId xmlns:a16="http://schemas.microsoft.com/office/drawing/2014/main" id="{0C2EE7A7-E958-4656-B46A-7B7AD22D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248275"/>
            <a:ext cx="2619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BFB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7" name="cell-text-3-4">
            <a:extLst xmlns:a="http://schemas.openxmlformats.org/drawingml/2006/main">
              <a:ext uri="{FF2B5EF4-FFF2-40B4-BE49-F238E27FC236}">
                <a16:creationId xmlns:a16="http://schemas.microsoft.com/office/drawing/2014/main" id="{44A2CA16-5AFB-47F3-A38E-3AE00228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267325"/>
            <a:ext cx="2486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全量按 30 ms：210.3 GB/s*</a:t>
            </a:r>
          </a:p>
        </p:txBody>
      </p:sp>
      <p:sp>
        <p:nvSpPr>
          <p:cNvPr id="118" name="cell-4-0">
            <a:extLst xmlns:a="http://schemas.openxmlformats.org/drawingml/2006/main">
              <a:ext uri="{FF2B5EF4-FFF2-40B4-BE49-F238E27FC236}">
                <a16:creationId xmlns:a16="http://schemas.microsoft.com/office/drawing/2014/main" id="{B2D5BC5D-725F-4CF3-82AA-20DDDC5C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4097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19" name="cell-text-4-0">
            <a:extLst xmlns:a="http://schemas.openxmlformats.org/drawingml/2006/main">
              <a:ext uri="{FF2B5EF4-FFF2-40B4-BE49-F238E27FC236}">
                <a16:creationId xmlns:a16="http://schemas.microsoft.com/office/drawing/2014/main" id="{0C0C3DD8-6A6D-401A-96CF-BF737927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600700"/>
            <a:ext cx="1276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⑥ L3 回填</a:t>
            </a:r>
          </a:p>
        </p:txBody>
      </p:sp>
      <p:sp>
        <p:nvSpPr>
          <p:cNvPr id="120" name="cell-4-1">
            <a:extLst xmlns:a="http://schemas.openxmlformats.org/drawingml/2006/main">
              <a:ext uri="{FF2B5EF4-FFF2-40B4-BE49-F238E27FC236}">
                <a16:creationId xmlns:a16="http://schemas.microsoft.com/office/drawing/2014/main" id="{7BA35442-9319-4BF9-A7AE-6456FD9A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81650"/>
            <a:ext cx="1752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1" name="cell-text-4-1">
            <a:extLst xmlns:a="http://schemas.openxmlformats.org/drawingml/2006/main">
              <a:ext uri="{FF2B5EF4-FFF2-40B4-BE49-F238E27FC236}">
                <a16:creationId xmlns:a16="http://schemas.microsoft.com/office/drawing/2014/main" id="{78716EEB-ECE6-48D3-90BD-760A8033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56007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L3（SSD / KVU）→ DDR</a:t>
            </a:r>
          </a:p>
        </p:txBody>
      </p:sp>
      <p:sp>
        <p:nvSpPr>
          <p:cNvPr id="122" name="cell-4-2">
            <a:extLst xmlns:a="http://schemas.openxmlformats.org/drawingml/2006/main">
              <a:ext uri="{FF2B5EF4-FFF2-40B4-BE49-F238E27FC236}">
                <a16:creationId xmlns:a16="http://schemas.microsoft.com/office/drawing/2014/main" id="{FC3173E0-C560-4E0E-8743-9DD7DED2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581650"/>
            <a:ext cx="18097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3" name="cell-text-4-2">
            <a:extLst xmlns:a="http://schemas.openxmlformats.org/drawingml/2006/main">
              <a:ext uri="{FF2B5EF4-FFF2-40B4-BE49-F238E27FC236}">
                <a16:creationId xmlns:a16="http://schemas.microsoft.com/office/drawing/2014/main" id="{4AB9E74E-202F-42E6-9AF1-F812EB46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5600700"/>
            <a:ext cx="1676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188 KiB / token</a:t>
            </a:r>
          </a:p>
        </p:txBody>
      </p:sp>
      <p:sp>
        <p:nvSpPr>
          <p:cNvPr id="124" name="cell-4-3">
            <a:extLst xmlns:a="http://schemas.openxmlformats.org/drawingml/2006/main">
              <a:ext uri="{FF2B5EF4-FFF2-40B4-BE49-F238E27FC236}">
                <a16:creationId xmlns:a16="http://schemas.microsoft.com/office/drawing/2014/main" id="{79D103CC-7BEF-47CF-BDF1-01E6D3EC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5581650"/>
            <a:ext cx="3381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5" name="cell-text-4-3">
            <a:extLst xmlns:a="http://schemas.openxmlformats.org/drawingml/2006/main">
              <a:ext uri="{FF2B5EF4-FFF2-40B4-BE49-F238E27FC236}">
                <a16:creationId xmlns:a16="http://schemas.microsoft.com/office/drawing/2014/main" id="{0677C542-737B-4B71-9263-F897F87D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5600700"/>
            <a:ext cx="3248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按 L2 miss 量；全量 32,768 次 / 6.31 GB</a:t>
            </a:r>
          </a:p>
        </p:txBody>
      </p:sp>
      <p:sp>
        <p:nvSpPr>
          <p:cNvPr id="126" name="cell-4-4">
            <a:extLst xmlns:a="http://schemas.openxmlformats.org/drawingml/2006/main">
              <a:ext uri="{FF2B5EF4-FFF2-40B4-BE49-F238E27FC236}">
                <a16:creationId xmlns:a16="http://schemas.microsoft.com/office/drawing/2014/main" id="{94D594A6-6604-4A40-83B7-107CA5BF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5581650"/>
            <a:ext cx="26193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9D9"/>
            </a:solidFill>
            <a:prstDash val="solid"/>
          </a:ln>
        </p:spPr>
      </p:sp>
      <p:sp>
        <p:nvSpPr>
          <p:cNvPr id="127" name="cell-text-4-4">
            <a:extLst xmlns:a="http://schemas.openxmlformats.org/drawingml/2006/main">
              <a:ext uri="{FF2B5EF4-FFF2-40B4-BE49-F238E27FC236}">
                <a16:creationId xmlns:a16="http://schemas.microsoft.com/office/drawing/2014/main" id="{6BA75AE5-5E40-422C-8CB5-92A53DCB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600700"/>
            <a:ext cx="2486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171717"/>
                </a:solidFill>
                <a:latin typeface="Microsoft YaHei"/>
                <a:ea typeface="Microsoft YaHei"/>
                <a:cs typeface="Microsoft YaHei"/>
              </a:rPr>
              <a:t>全量按 30 ms：210.3 GB/s*</a:t>
            </a:r>
          </a:p>
        </p:txBody>
      </p:sp>
      <p:sp>
        <p:nvSpPr>
          <p:cNvPr id="128" name="footer-note">
            <a:extLst xmlns:a="http://schemas.openxmlformats.org/drawingml/2006/main">
              <a:ext uri="{FF2B5EF4-FFF2-40B4-BE49-F238E27FC236}">
                <a16:creationId xmlns:a16="http://schemas.microsoft.com/office/drawing/2014/main" id="{36EB7718-28E5-4DF9-A289-FEA2F935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0275"/>
            <a:ext cx="1095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0">
                <a:solidFill>
                  <a:srgbClr val="5F6368"/>
                </a:solidFill>
                <a:latin typeface="Microsoft YaHei"/>
                <a:ea typeface="Microsoft YaHei"/>
                <a:cs typeface="Microsoft YaHei"/>
              </a:rPr>
              <a:t>* 188 KiB/token = 94 层 × K/V × 4 KV heads × 128 dim × BF16 2 B；32K 全量 / 30 ms = 210.3 GB/s。逻辑 IO 按 1 token 计，物理 IO 按 block 合并。</a:t>
            </a:r>
          </a:p>
        </p:txBody>
      </p:sp>
      <p:sp>
        <p:nvSpPr>
          <p:cNvPr id="129" name="footer-caveat">
            <a:extLst xmlns:a="http://schemas.openxmlformats.org/drawingml/2006/main">
              <a:ext uri="{FF2B5EF4-FFF2-40B4-BE49-F238E27FC236}">
                <a16:creationId xmlns:a16="http://schemas.microsoft.com/office/drawing/2014/main" id="{334FB547-5B2A-40B2-83F7-E6B7A63B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00775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35" b="1">
                <a:solidFill>
                  <a:srgbClr val="C8102E"/>
                </a:solidFill>
                <a:latin typeface="Microsoft YaHei"/>
                <a:ea typeface="Microsoft YaHei"/>
                <a:cs typeface="Microsoft YaHei"/>
              </a:rPr>
              <a:t>⑤⑥为分层策略流量，按淘汰量 / L2 miss 量触发；30 ms 是 TPOT，此处带宽仅为单请求 30 ms 搬完的等效值。KVU 池不附加未核实的性能假设。</a:t>
            </a:r>
          </a:p>
        </p:txBody>
      </p:sp>
    </p:spTree>
    <p:extLst>
      <p:ext uri="{BB962C8B-B14F-4D97-AF65-F5344CB8AC3E}">
        <p14:creationId xmlns:p14="http://schemas.microsoft.com/office/powerpoint/2010/main" val="3482580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2026-10-29T12:11:33.9100000Z</dcterms:created>
  <dcterms:modified xsi:type="dcterms:W3CDTF">2026-10-29T12:11:33.9100000Z</dcterms:modified>
</coreProperties>
</file>